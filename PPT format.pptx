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4"/>
  </p:notesMasterIdLst>
  <p:sldIdLst>
    <p:sldId id="263" r:id="rId3"/>
    <p:sldId id="280" r:id="rId4"/>
    <p:sldId id="264" r:id="rId5"/>
    <p:sldId id="265" r:id="rId6"/>
    <p:sldId id="277" r:id="rId7"/>
    <p:sldId id="269" r:id="rId8"/>
    <p:sldId id="270" r:id="rId9"/>
    <p:sldId id="272" r:id="rId10"/>
    <p:sldId id="279" r:id="rId11"/>
    <p:sldId id="275" r:id="rId12"/>
    <p:sldId id="2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72AABE-BEBC-43F8-892E-3C881BBE2885}">
          <p14:sldIdLst>
            <p14:sldId id="263"/>
            <p14:sldId id="280"/>
            <p14:sldId id="264"/>
            <p14:sldId id="265"/>
            <p14:sldId id="277"/>
            <p14:sldId id="269"/>
            <p14:sldId id="270"/>
            <p14:sldId id="272"/>
            <p14:sldId id="279"/>
            <p14:sldId id="275"/>
            <p14:sldId id="25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9749"/>
    <a:srgbClr val="632523"/>
    <a:srgbClr val="EEECE1"/>
    <a:srgbClr val="FAFAFA"/>
    <a:srgbClr val="FFFFCC"/>
    <a:srgbClr val="FFFFFF"/>
    <a:srgbClr val="5B1F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Shivaswamy" userId="86d7c246029051df" providerId="LiveId" clId="{EC84AC3E-40DD-475C-8396-E4D249618CD7}"/>
    <pc:docChg chg="modSld">
      <pc:chgData name="Abhishek Shivaswamy" userId="86d7c246029051df" providerId="LiveId" clId="{EC84AC3E-40DD-475C-8396-E4D249618CD7}" dt="2025-02-07T05:22:43.700" v="0" actId="20577"/>
      <pc:docMkLst>
        <pc:docMk/>
      </pc:docMkLst>
      <pc:sldChg chg="modSp mod">
        <pc:chgData name="Abhishek Shivaswamy" userId="86d7c246029051df" providerId="LiveId" clId="{EC84AC3E-40DD-475C-8396-E4D249618CD7}" dt="2025-02-07T05:22:43.700" v="0" actId="20577"/>
        <pc:sldMkLst>
          <pc:docMk/>
          <pc:sldMk cId="0" sldId="264"/>
        </pc:sldMkLst>
        <pc:spChg chg="mod">
          <ac:chgData name="Abhishek Shivaswamy" userId="86d7c246029051df" providerId="LiveId" clId="{EC84AC3E-40DD-475C-8396-E4D249618CD7}" dt="2025-02-07T05:22:43.700" v="0" actId="20577"/>
          <ac:spMkLst>
            <pc:docMk/>
            <pc:sldMk cId="0" sldId="26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EB542-D87F-482D-A7FF-4601A0EF413B}"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B07B5-2230-4BA0-B62F-6320918FF3D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2B07B5-2230-4BA0-B62F-6320918FF3D1}" type="slidenum">
              <a:rPr lang="en-US" smtClean="0"/>
              <a:t>1</a:t>
            </a:fld>
            <a:endParaRPr lang="en-US"/>
          </a:p>
        </p:txBody>
      </p:sp>
    </p:spTree>
    <p:extLst>
      <p:ext uri="{BB962C8B-B14F-4D97-AF65-F5344CB8AC3E}">
        <p14:creationId xmlns:p14="http://schemas.microsoft.com/office/powerpoint/2010/main" val="758448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05-02-2025 </a:t>
            </a:r>
          </a:p>
        </p:txBody>
      </p:sp>
      <p:sp>
        <p:nvSpPr>
          <p:cNvPr id="8" name="Footer Placeholder 7"/>
          <p:cNvSpPr>
            <a:spLocks noGrp="1"/>
          </p:cNvSpPr>
          <p:nvPr>
            <p:ph type="ftr" sz="quarter" idx="11"/>
          </p:nvPr>
        </p:nvSpPr>
        <p:spPr/>
        <p:txBody>
          <a:bodyPr/>
          <a:lstStyle/>
          <a:p>
            <a:r>
              <a:rPr lang="en-US"/>
              <a:t>Faculty of Engineering and Technology</a:t>
            </a:r>
          </a:p>
        </p:txBody>
      </p:sp>
      <p:sp>
        <p:nvSpPr>
          <p:cNvPr id="9" name="Slide Number Placeholder 8"/>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05-02-2025 </a:t>
            </a:r>
          </a:p>
        </p:txBody>
      </p:sp>
      <p:sp>
        <p:nvSpPr>
          <p:cNvPr id="4" name="Footer Placeholder 3"/>
          <p:cNvSpPr>
            <a:spLocks noGrp="1"/>
          </p:cNvSpPr>
          <p:nvPr>
            <p:ph type="ftr" sz="quarter" idx="11"/>
          </p:nvPr>
        </p:nvSpPr>
        <p:spPr/>
        <p:txBody>
          <a:bodyPr/>
          <a:lstStyle/>
          <a:p>
            <a:r>
              <a:rPr lang="en-US"/>
              <a:t>Faculty of Engineering and Technology</a:t>
            </a:r>
          </a:p>
        </p:txBody>
      </p:sp>
      <p:sp>
        <p:nvSpPr>
          <p:cNvPr id="5" name="Slide Number Placeholder 4"/>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05-02-2025 </a:t>
            </a:r>
          </a:p>
        </p:txBody>
      </p:sp>
      <p:sp>
        <p:nvSpPr>
          <p:cNvPr id="3" name="Footer Placeholder 2"/>
          <p:cNvSpPr>
            <a:spLocks noGrp="1"/>
          </p:cNvSpPr>
          <p:nvPr>
            <p:ph type="ftr" sz="quarter" idx="11"/>
          </p:nvPr>
        </p:nvSpPr>
        <p:spPr/>
        <p:txBody>
          <a:bodyPr/>
          <a:lstStyle/>
          <a:p>
            <a:r>
              <a:rPr lang="en-US"/>
              <a:t>Faculty of Engineering and Technology</a:t>
            </a:r>
          </a:p>
        </p:txBody>
      </p:sp>
      <p:sp>
        <p:nvSpPr>
          <p:cNvPr id="4" name="Slide Number Placeholder 3"/>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05-02-2025 </a:t>
            </a:r>
          </a:p>
        </p:txBody>
      </p:sp>
      <p:sp>
        <p:nvSpPr>
          <p:cNvPr id="8" name="Footer Placeholder 7"/>
          <p:cNvSpPr>
            <a:spLocks noGrp="1"/>
          </p:cNvSpPr>
          <p:nvPr>
            <p:ph type="ftr" sz="quarter" idx="11"/>
          </p:nvPr>
        </p:nvSpPr>
        <p:spPr/>
        <p:txBody>
          <a:bodyPr/>
          <a:lstStyle/>
          <a:p>
            <a:r>
              <a:rPr lang="en-US"/>
              <a:t>Faculty of Engineering and Technology</a:t>
            </a:r>
          </a:p>
        </p:txBody>
      </p:sp>
      <p:sp>
        <p:nvSpPr>
          <p:cNvPr id="9" name="Slide Number Placeholder 8"/>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05-02-2025 </a:t>
            </a:r>
          </a:p>
        </p:txBody>
      </p:sp>
      <p:sp>
        <p:nvSpPr>
          <p:cNvPr id="4" name="Footer Placeholder 3"/>
          <p:cNvSpPr>
            <a:spLocks noGrp="1"/>
          </p:cNvSpPr>
          <p:nvPr>
            <p:ph type="ftr" sz="quarter" idx="11"/>
          </p:nvPr>
        </p:nvSpPr>
        <p:spPr/>
        <p:txBody>
          <a:bodyPr/>
          <a:lstStyle/>
          <a:p>
            <a:r>
              <a:rPr lang="en-US"/>
              <a:t>Faculty of Engineering and Technology</a:t>
            </a:r>
          </a:p>
        </p:txBody>
      </p:sp>
      <p:sp>
        <p:nvSpPr>
          <p:cNvPr id="5" name="Slide Number Placeholder 4"/>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05-02-2025 </a:t>
            </a:r>
          </a:p>
        </p:txBody>
      </p:sp>
      <p:sp>
        <p:nvSpPr>
          <p:cNvPr id="3" name="Footer Placeholder 2"/>
          <p:cNvSpPr>
            <a:spLocks noGrp="1"/>
          </p:cNvSpPr>
          <p:nvPr>
            <p:ph type="ftr" sz="quarter" idx="11"/>
          </p:nvPr>
        </p:nvSpPr>
        <p:spPr/>
        <p:txBody>
          <a:bodyPr/>
          <a:lstStyle/>
          <a:p>
            <a:r>
              <a:rPr lang="en-US"/>
              <a:t>Faculty of Engineering and Technology</a:t>
            </a:r>
          </a:p>
        </p:txBody>
      </p:sp>
      <p:sp>
        <p:nvSpPr>
          <p:cNvPr id="4" name="Slide Number Placeholder 3"/>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05-02-2025 </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of Engineering and Technology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C911C-A319-4FC6-9017-944A3A3C776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05-02-2025 </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of Engineering and Technology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C911C-A319-4FC6-9017-944A3A3C776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7" name="Title 1">
            <a:extLst>
              <a:ext uri="{FF2B5EF4-FFF2-40B4-BE49-F238E27FC236}">
                <a16:creationId xmlns:a16="http://schemas.microsoft.com/office/drawing/2014/main" id="{E218EFDF-FA19-2E24-3B90-31C017644C23}"/>
              </a:ext>
            </a:extLst>
          </p:cNvPr>
          <p:cNvSpPr>
            <a:spLocks noGrp="1"/>
          </p:cNvSpPr>
          <p:nvPr>
            <p:ph type="ctrTitle"/>
          </p:nvPr>
        </p:nvSpPr>
        <p:spPr>
          <a:xfrm>
            <a:off x="2353074" y="1338531"/>
            <a:ext cx="7948593" cy="2061839"/>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B.TECH IN CSE</a:t>
            </a:r>
            <a:br>
              <a:rPr lang="en-US" sz="3200" b="1" dirty="0">
                <a:latin typeface="Times New Roman" panose="02020603050405020304" pitchFamily="18" charset="0"/>
                <a:cs typeface="Times New Roman" panose="02020603050405020304" pitchFamily="18" charset="0"/>
              </a:rPr>
            </a:br>
            <a:r>
              <a:rPr lang="en-US" sz="3200" b="1" dirty="0">
                <a:solidFill>
                  <a:schemeClr val="tx2">
                    <a:lumMod val="75000"/>
                    <a:lumOff val="25000"/>
                  </a:schemeClr>
                </a:solidFill>
                <a:latin typeface="Times New Roman" panose="02020603050405020304" pitchFamily="18" charset="0"/>
                <a:cs typeface="Times New Roman" panose="02020603050405020304" pitchFamily="18" charset="0"/>
              </a:rPr>
              <a:t>“</a:t>
            </a:r>
            <a:r>
              <a:rPr lang="en-US" sz="3200" b="1" dirty="0">
                <a:solidFill>
                  <a:schemeClr val="tx2">
                    <a:lumMod val="75000"/>
                    <a:lumOff val="25000"/>
                  </a:schemeClr>
                </a:solidFill>
                <a:latin typeface="Times New Roman Bold" panose="02020603050405020304" charset="0"/>
                <a:ea typeface="Montserrat" pitchFamily="34" charset="-122"/>
                <a:cs typeface="Times New Roman Bold" panose="02020603050405020304" charset="0"/>
                <a:sym typeface="+mn-ea"/>
              </a:rPr>
              <a:t>Addressing Data Scalability Challenges in Social Media Platforms</a:t>
            </a:r>
            <a:r>
              <a:rPr lang="en-IN" sz="3200" b="1" dirty="0">
                <a:solidFill>
                  <a:schemeClr val="tx2">
                    <a:lumMod val="75000"/>
                    <a:lumOff val="25000"/>
                  </a:schemeClr>
                </a:solidFill>
                <a:latin typeface="Times New Roman" panose="02020603050405020304" pitchFamily="18" charset="0"/>
                <a:cs typeface="Times New Roman" panose="02020603050405020304" pitchFamily="18" charset="0"/>
              </a:rPr>
              <a:t>”</a:t>
            </a:r>
            <a:endParaRPr lang="en-US" sz="3200" b="1" dirty="0">
              <a:solidFill>
                <a:schemeClr val="tx2">
                  <a:lumMod val="75000"/>
                  <a:lumOff val="25000"/>
                </a:schemeClr>
              </a:solidFill>
              <a:latin typeface="Times New Roman" panose="02020603050405020304" pitchFamily="18" charset="0"/>
              <a:ea typeface="Calibri"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4902ACBB-D2BF-D229-A02A-094762454B67}"/>
              </a:ext>
            </a:extLst>
          </p:cNvPr>
          <p:cNvSpPr/>
          <p:nvPr/>
        </p:nvSpPr>
        <p:spPr>
          <a:xfrm>
            <a:off x="0" y="4317"/>
            <a:ext cx="12192000" cy="1122364"/>
          </a:xfrm>
          <a:prstGeom prst="rect">
            <a:avLst/>
          </a:prstGeom>
          <a:solidFill>
            <a:srgbClr val="5B1F1F"/>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4FBBBD3-CAF3-864D-4D07-17D1ACA8B77B}"/>
              </a:ext>
            </a:extLst>
          </p:cNvPr>
          <p:cNvSpPr txBox="1"/>
          <p:nvPr/>
        </p:nvSpPr>
        <p:spPr>
          <a:xfrm>
            <a:off x="1604869" y="8589"/>
            <a:ext cx="8957188" cy="707886"/>
          </a:xfrm>
          <a:prstGeom prst="rect">
            <a:avLst/>
          </a:prstGeom>
          <a:noFill/>
        </p:spPr>
        <p:txBody>
          <a:bodyPr wrap="square">
            <a:spAutoFit/>
          </a:bodyPr>
          <a:lstStyle/>
          <a:p>
            <a:pPr algn="r"/>
            <a:r>
              <a:rPr lang="en-US" sz="4000" dirty="0">
                <a:solidFill>
                  <a:srgbClr val="CA9749"/>
                </a:solidFill>
                <a:latin typeface="Bodoni MT" panose="02070603080606020203" pitchFamily="18" charset="0"/>
                <a:cs typeface="Aldhabi" panose="020F0502020204030204" pitchFamily="2" charset="-78"/>
              </a:rPr>
              <a:t>RAI TECHNOLOGY UNIVERSITY </a:t>
            </a:r>
          </a:p>
        </p:txBody>
      </p:sp>
      <p:sp>
        <p:nvSpPr>
          <p:cNvPr id="30" name="TextBox 29">
            <a:extLst>
              <a:ext uri="{FF2B5EF4-FFF2-40B4-BE49-F238E27FC236}">
                <a16:creationId xmlns:a16="http://schemas.microsoft.com/office/drawing/2014/main" id="{E5C9F226-44E6-104A-9996-16AE0B20DA9F}"/>
              </a:ext>
            </a:extLst>
          </p:cNvPr>
          <p:cNvSpPr txBox="1"/>
          <p:nvPr/>
        </p:nvSpPr>
        <p:spPr>
          <a:xfrm>
            <a:off x="4881665" y="560790"/>
            <a:ext cx="2595716" cy="523220"/>
          </a:xfrm>
          <a:prstGeom prst="rect">
            <a:avLst/>
          </a:prstGeom>
          <a:noFill/>
        </p:spPr>
        <p:txBody>
          <a:bodyPr wrap="square">
            <a:spAutoFit/>
          </a:bodyPr>
          <a:lstStyle/>
          <a:p>
            <a:r>
              <a:rPr lang="en-US" sz="2800" dirty="0">
                <a:solidFill>
                  <a:srgbClr val="CA9749"/>
                </a:solidFill>
                <a:latin typeface="Bodoni MT" panose="02070603080606020203" pitchFamily="18" charset="0"/>
                <a:cs typeface="Aldhabi" panose="020F0502020204030204" pitchFamily="2" charset="-78"/>
              </a:rPr>
              <a:t>BANGALURU</a:t>
            </a:r>
            <a:endParaRPr lang="en-US" sz="2800" dirty="0"/>
          </a:p>
        </p:txBody>
      </p:sp>
      <p:sp>
        <p:nvSpPr>
          <p:cNvPr id="32" name="Rectangle 31">
            <a:extLst>
              <a:ext uri="{FF2B5EF4-FFF2-40B4-BE49-F238E27FC236}">
                <a16:creationId xmlns:a16="http://schemas.microsoft.com/office/drawing/2014/main" id="{3A41AB14-4B57-B571-6146-0014C34FFFC0}"/>
              </a:ext>
            </a:extLst>
          </p:cNvPr>
          <p:cNvSpPr/>
          <p:nvPr/>
        </p:nvSpPr>
        <p:spPr>
          <a:xfrm rot="10800000">
            <a:off x="0" y="6292500"/>
            <a:ext cx="12192000" cy="59978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7CBA4972-C040-9FB8-7DF7-19B4F4C1099C}"/>
              </a:ext>
            </a:extLst>
          </p:cNvPr>
          <p:cNvSpPr txBox="1"/>
          <p:nvPr/>
        </p:nvSpPr>
        <p:spPr>
          <a:xfrm>
            <a:off x="550505" y="3872851"/>
            <a:ext cx="11258037" cy="1477328"/>
          </a:xfrm>
          <a:prstGeom prst="rect">
            <a:avLst/>
          </a:prstGeom>
          <a:noFill/>
        </p:spPr>
        <p:txBody>
          <a:bodyPr wrap="square" rtlCol="0">
            <a:spAutoFit/>
          </a:bodyPr>
          <a:lstStyle/>
          <a:p>
            <a:r>
              <a:rPr lang="en-US" sz="2400" b="1" dirty="0">
                <a:solidFill>
                  <a:srgbClr val="C00000"/>
                </a:solidFill>
                <a:latin typeface="Times New Roman" panose="02020603050405020304" pitchFamily="18" charset="0"/>
                <a:cs typeface="Times New Roman" panose="02020603050405020304" pitchFamily="18" charset="0"/>
              </a:rPr>
              <a:t>Presented By:                                                                                            Submitted To:</a:t>
            </a:r>
          </a:p>
          <a:p>
            <a:r>
              <a:rPr lang="en-US" sz="2400" b="1" dirty="0">
                <a:solidFill>
                  <a:srgbClr val="C00000"/>
                </a:solidFill>
                <a:latin typeface="Times New Roman" panose="02020603050405020304" pitchFamily="18" charset="0"/>
                <a:cs typeface="Times New Roman" panose="02020603050405020304" pitchFamily="18" charset="0"/>
              </a:rPr>
              <a:t>DEEPAK V P                                                                                            Mr. Abhishek S           </a:t>
            </a:r>
          </a:p>
          <a:p>
            <a:r>
              <a:rPr lang="en-US" sz="2400" b="1" dirty="0">
                <a:solidFill>
                  <a:srgbClr val="C00000"/>
                </a:solidFill>
                <a:latin typeface="Times New Roman" panose="02020603050405020304" pitchFamily="18" charset="0"/>
                <a:cs typeface="Times New Roman" panose="02020603050405020304" pitchFamily="18" charset="0"/>
              </a:rPr>
              <a:t>RTU24101CS053							         Project Guide</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E2DA7-D028-B371-75D2-9B910C17DD6D}"/>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9D852AB0-C24A-AA13-CFCF-6C65D1CCFFAC}"/>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6EA21AD-3AD3-5D2F-549E-BC5827DAF4BB}"/>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CEBD60-EA0E-8E3B-99B9-414B1EF12046}"/>
              </a:ext>
            </a:extLst>
          </p:cNvPr>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a:extLst>
              <a:ext uri="{FF2B5EF4-FFF2-40B4-BE49-F238E27FC236}">
                <a16:creationId xmlns:a16="http://schemas.microsoft.com/office/drawing/2014/main" id="{CD98C2D6-9C6D-3C93-1A16-331577C6A5BA}"/>
              </a:ext>
            </a:extLst>
          </p:cNvPr>
          <p:cNvSpPr/>
          <p:nvPr/>
        </p:nvSpPr>
        <p:spPr>
          <a:xfrm>
            <a:off x="0" y="47882"/>
            <a:ext cx="12192800" cy="646331"/>
          </a:xfrm>
          <a:prstGeom prst="rect">
            <a:avLst/>
          </a:prstGeom>
        </p:spPr>
        <p:txBody>
          <a:bodyPr wrap="square">
            <a:spAutoFit/>
          </a:bodyPr>
          <a:lstStyle/>
          <a:p>
            <a:pPr algn="ctr"/>
            <a:r>
              <a:rPr lang="en-US" sz="3600" b="1" dirty="0">
                <a:solidFill>
                  <a:srgbClr val="C00000"/>
                </a:solidFill>
                <a:latin typeface="Times New Roman" panose="02020603050405020304" pitchFamily="18" charset="0"/>
                <a:ea typeface="Calibri" pitchFamily="34" charset="0"/>
                <a:cs typeface="Times New Roman" panose="02020603050405020304" pitchFamily="18" charset="0"/>
              </a:rPr>
              <a:t>CONTENT </a:t>
            </a:r>
          </a:p>
        </p:txBody>
      </p:sp>
      <p:sp>
        <p:nvSpPr>
          <p:cNvPr id="9" name="Rectangle 8">
            <a:extLst>
              <a:ext uri="{FF2B5EF4-FFF2-40B4-BE49-F238E27FC236}">
                <a16:creationId xmlns:a16="http://schemas.microsoft.com/office/drawing/2014/main" id="{89FA4375-32FA-D0AF-F7A9-9003AA57728E}"/>
              </a:ext>
            </a:extLst>
          </p:cNvPr>
          <p:cNvSpPr/>
          <p:nvPr/>
        </p:nvSpPr>
        <p:spPr>
          <a:xfrm>
            <a:off x="746448" y="998375"/>
            <a:ext cx="6044613" cy="4539191"/>
          </a:xfrm>
          <a:prstGeom prst="rect">
            <a:avLst/>
          </a:prstGeom>
        </p:spPr>
        <p:txBody>
          <a:bodyPr wrap="square">
            <a:sp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Problem Statement</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Literature Survey</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Proposed Solution and Methodology</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Solution Development </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Scalability&amp; Performance analysis</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Conclusion</a:t>
            </a:r>
          </a:p>
        </p:txBody>
      </p:sp>
    </p:spTree>
    <p:extLst>
      <p:ext uri="{BB962C8B-B14F-4D97-AF65-F5344CB8AC3E}">
        <p14:creationId xmlns:p14="http://schemas.microsoft.com/office/powerpoint/2010/main" val="1184406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85192"/>
            <a:ext cx="12192800" cy="646331"/>
          </a:xfrm>
          <a:prstGeom prst="rect">
            <a:avLst/>
          </a:prstGeom>
        </p:spPr>
        <p:txBody>
          <a:bodyPr wrap="square">
            <a:spAutoFit/>
          </a:bodyPr>
          <a:lstStyle/>
          <a:p>
            <a:pPr algn="ctr"/>
            <a:r>
              <a:rPr lang="en-US" sz="3600" b="1" dirty="0">
                <a:solidFill>
                  <a:srgbClr val="C00000"/>
                </a:solidFill>
                <a:latin typeface="Times New Roman" panose="02020603050405020304" pitchFamily="18" charset="0"/>
                <a:cs typeface="Times New Roman" panose="02020603050405020304" pitchFamily="18" charset="0"/>
              </a:rPr>
              <a:t>INTRODUCTION</a:t>
            </a:r>
            <a:r>
              <a:rPr lang="en-US" sz="3600" b="1" dirty="0">
                <a:solidFill>
                  <a:srgbClr val="C00000"/>
                </a:solidFill>
                <a:latin typeface="Calibri" pitchFamily="34" charset="0"/>
                <a:ea typeface="Calibri" pitchFamily="34" charset="0"/>
                <a:cs typeface="Calibri" pitchFamily="34" charset="0"/>
              </a:rPr>
              <a:t> </a:t>
            </a:r>
          </a:p>
        </p:txBody>
      </p:sp>
      <p:sp>
        <p:nvSpPr>
          <p:cNvPr id="3" name="Text Box 2"/>
          <p:cNvSpPr txBox="1"/>
          <p:nvPr/>
        </p:nvSpPr>
        <p:spPr>
          <a:xfrm>
            <a:off x="668655" y="1395743"/>
            <a:ext cx="10854690" cy="4184015"/>
          </a:xfrm>
          <a:prstGeom prst="rect">
            <a:avLst/>
          </a:prstGeom>
          <a:noFill/>
        </p:spPr>
        <p:txBody>
          <a:bodyPr wrap="square" rtlCol="0">
            <a:noAutofit/>
          </a:bodyPr>
          <a:lstStyle/>
          <a:p>
            <a:pPr algn="just"/>
            <a:r>
              <a:rPr lang="en-US" altLang="en-US" sz="3200" dirty="0">
                <a:solidFill>
                  <a:schemeClr val="tx1"/>
                </a:solidFill>
                <a:latin typeface="Times New Roman Regular" panose="02020603050405020304" charset="0"/>
                <a:cs typeface="Times New Roman Regular" panose="02020603050405020304" charset="0"/>
              </a:rPr>
              <a:t>In the digital era, social media generates vast user data, posing scalability challenges in storage, processing, and retrieval. Real-time analytics, personalized recommendations, and content moderation add to these demands. Emerging technologies like distributed computing, machine learning, and parallel processing offer solutions. This work explores cost-effective methods, including scalable databases, cloud storage, and ML-based analytics, to enhance social media data management while ensuring scalability, accuracy, and reliability.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01216"/>
            <a:ext cx="12192800" cy="1200329"/>
          </a:xfrm>
          <a:prstGeom prst="rect">
            <a:avLst/>
          </a:prstGeom>
        </p:spPr>
        <p:txBody>
          <a:bodyPr wrap="square">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PROBLEM STATEMENT</a:t>
            </a:r>
            <a:endParaRPr lang="en-US" sz="3600" b="1" dirty="0">
              <a:solidFill>
                <a:srgbClr val="C00000"/>
              </a:solidFill>
              <a:latin typeface="Times New Roman" panose="02020603050405020304" pitchFamily="18" charset="0"/>
              <a:cs typeface="Times New Roman" panose="02020603050405020304" pitchFamily="18" charset="0"/>
            </a:endParaRPr>
          </a:p>
          <a:p>
            <a:pPr algn="ctr"/>
            <a:r>
              <a:rPr lang="en-US" sz="3600" b="1" dirty="0">
                <a:solidFill>
                  <a:srgbClr val="C00000"/>
                </a:solidFill>
                <a:latin typeface="Calibri" pitchFamily="34" charset="0"/>
                <a:ea typeface="Calibri" pitchFamily="34" charset="0"/>
                <a:cs typeface="Calibri" pitchFamily="34" charset="0"/>
              </a:rPr>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3" name="Text Box 2"/>
          <p:cNvSpPr txBox="1"/>
          <p:nvPr/>
        </p:nvSpPr>
        <p:spPr>
          <a:xfrm>
            <a:off x="767715" y="1601470"/>
            <a:ext cx="10587355" cy="4010025"/>
          </a:xfrm>
          <a:prstGeom prst="rect">
            <a:avLst/>
          </a:prstGeom>
          <a:noFill/>
        </p:spPr>
        <p:txBody>
          <a:bodyPr wrap="square" rtlCol="0">
            <a:noAutofit/>
          </a:bodyPr>
          <a:lstStyle/>
          <a:p>
            <a:pPr algn="just"/>
            <a:r>
              <a:rPr lang="en-US" altLang="en-US" sz="3200" dirty="0">
                <a:solidFill>
                  <a:schemeClr val="tx1"/>
                </a:solidFill>
                <a:latin typeface="Times New Roman Regular" panose="02020603050405020304" charset="0"/>
                <a:cs typeface="Times New Roman Regular" panose="02020603050405020304" charset="0"/>
              </a:rPr>
              <a:t>Social media platforms generate massive content, including posts, images, and videos. Managing this data efficiently is crucial for storage, retrieval, and system performance. Traditional methods struggle with the growing volume and speed, leading to slow responses, high costs, data duplication, and inefficiencies in moderation and analytics.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01216"/>
            <a:ext cx="12192800" cy="645160"/>
          </a:xfrm>
          <a:prstGeom prst="rect">
            <a:avLst/>
          </a:prstGeom>
        </p:spPr>
        <p:txBody>
          <a:bodyPr wrap="square">
            <a:spAutoFit/>
          </a:bodyPr>
          <a:lstStyle/>
          <a:p>
            <a:pPr algn="ctr"/>
            <a:r>
              <a:rPr lang="en-US" sz="3600" b="1" dirty="0">
                <a:solidFill>
                  <a:srgbClr val="C00000"/>
                </a:solidFill>
                <a:latin typeface="Times New Roman" panose="02020603050405020304" pitchFamily="18" charset="0"/>
                <a:cs typeface="Times New Roman" panose="02020603050405020304" pitchFamily="18" charset="0"/>
              </a:rPr>
              <a:t>LITERATURE SURVEY</a:t>
            </a:r>
            <a:r>
              <a:rPr lang="en-US" sz="3600" b="1" dirty="0">
                <a:solidFill>
                  <a:srgbClr val="C00000"/>
                </a:solidFill>
                <a:latin typeface="Calibri" pitchFamily="34" charset="0"/>
                <a:ea typeface="Calibri" pitchFamily="34" charset="0"/>
                <a:cs typeface="Calibri" pitchFamily="34" charset="0"/>
              </a:rPr>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4" name="Text Box 3"/>
          <p:cNvSpPr txBox="1"/>
          <p:nvPr/>
        </p:nvSpPr>
        <p:spPr>
          <a:xfrm>
            <a:off x="1024255" y="1475105"/>
            <a:ext cx="9819640" cy="3907155"/>
          </a:xfrm>
          <a:prstGeom prst="rect">
            <a:avLst/>
          </a:prstGeom>
          <a:noFill/>
        </p:spPr>
        <p:txBody>
          <a:bodyPr wrap="square" rtlCol="0">
            <a:noAutofit/>
          </a:bodyPr>
          <a:lstStyle/>
          <a:p>
            <a:pPr marL="457200" indent="-457200" algn="just">
              <a:buFont typeface="Arial" panose="020B0604020202020204" pitchFamily="34" charset="0"/>
              <a:buChar char="•"/>
            </a:pPr>
            <a:r>
              <a:rPr lang="en-IN" sz="3200" b="1" dirty="0" err="1">
                <a:effectLst/>
                <a:latin typeface="Times New Roman" panose="02020603050405020304" pitchFamily="18" charset="0"/>
                <a:ea typeface="Times New Roman" panose="02020603050405020304" pitchFamily="18" charset="0"/>
              </a:rPr>
              <a:t>Kottala</a:t>
            </a:r>
            <a:r>
              <a:rPr lang="en-IN" sz="3200" b="1" dirty="0">
                <a:effectLst/>
                <a:latin typeface="Times New Roman" panose="02020603050405020304" pitchFamily="18" charset="0"/>
                <a:ea typeface="Times New Roman" panose="02020603050405020304" pitchFamily="18" charset="0"/>
              </a:rPr>
              <a:t> et al</a:t>
            </a:r>
            <a:r>
              <a:rPr lang="en-IN" sz="3200" dirty="0">
                <a:effectLst/>
                <a:latin typeface="Times New Roman" panose="02020603050405020304" pitchFamily="18" charset="0"/>
                <a:ea typeface="Times New Roman" panose="02020603050405020304" pitchFamily="18" charset="0"/>
              </a:rPr>
              <a:t>. (2024) </a:t>
            </a:r>
            <a:r>
              <a:rPr lang="en-IN" sz="3200" dirty="0" err="1">
                <a:effectLst/>
                <a:latin typeface="Times New Roman" panose="02020603050405020304" pitchFamily="18" charset="0"/>
                <a:ea typeface="Times New Roman" panose="02020603050405020304" pitchFamily="18" charset="0"/>
              </a:rPr>
              <a:t>analyze</a:t>
            </a:r>
            <a:r>
              <a:rPr lang="en-IN" sz="3200" dirty="0">
                <a:effectLst/>
                <a:latin typeface="Times New Roman" panose="02020603050405020304" pitchFamily="18" charset="0"/>
                <a:ea typeface="Times New Roman" panose="02020603050405020304" pitchFamily="18" charset="0"/>
              </a:rPr>
              <a:t> the </a:t>
            </a:r>
            <a:r>
              <a:rPr lang="en-IN" sz="3200" b="1" dirty="0">
                <a:effectLst/>
                <a:latin typeface="Times New Roman" panose="02020603050405020304" pitchFamily="18" charset="0"/>
                <a:ea typeface="Times New Roman" panose="02020603050405020304" pitchFamily="18" charset="0"/>
              </a:rPr>
              <a:t>accuracy vs. scalability </a:t>
            </a:r>
            <a:r>
              <a:rPr lang="en-IN" sz="3200" dirty="0">
                <a:effectLst/>
                <a:latin typeface="Times New Roman" panose="02020603050405020304" pitchFamily="18" charset="0"/>
                <a:ea typeface="Times New Roman" panose="02020603050405020304" pitchFamily="18" charset="0"/>
              </a:rPr>
              <a:t>trade-off in machine learning models, demonstrating that high-accuracy models require extensive computational resources, making them less practical for real-time analytics</a:t>
            </a:r>
          </a:p>
          <a:p>
            <a:pPr marL="457200" indent="-457200" algn="just">
              <a:buFont typeface="Arial" panose="020B0604020202020204" pitchFamily="34" charset="0"/>
              <a:buChar char="•"/>
            </a:pPr>
            <a:r>
              <a:rPr lang="en-IN" sz="3200" b="1" dirty="0">
                <a:effectLst/>
                <a:latin typeface="Times New Roman" panose="02020603050405020304" pitchFamily="18" charset="0"/>
                <a:ea typeface="Times New Roman" panose="02020603050405020304" pitchFamily="18" charset="0"/>
              </a:rPr>
              <a:t>Huang and Wang </a:t>
            </a:r>
            <a:r>
              <a:rPr lang="en-IN" sz="3200" dirty="0">
                <a:effectLst/>
                <a:latin typeface="Times New Roman" panose="02020603050405020304" pitchFamily="18" charset="0"/>
                <a:ea typeface="Times New Roman" panose="02020603050405020304" pitchFamily="18" charset="0"/>
              </a:rPr>
              <a:t>(2017) emphasize the importance of parallel processing and distributed computing architectures in managing the high volume of social media interactions</a:t>
            </a:r>
            <a:endParaRPr lang="en-US" altLang="en-US" sz="7200" dirty="0">
              <a:solidFill>
                <a:schemeClr val="tx1"/>
              </a:solidFill>
              <a:latin typeface="Times New Roman Regular" panose="02020603050405020304" charset="0"/>
              <a:cs typeface="Times New Roman Regular"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298022" y="395851"/>
            <a:ext cx="11019454" cy="1077218"/>
          </a:xfrm>
          <a:prstGeom prst="rect">
            <a:avLst/>
          </a:prstGeom>
        </p:spPr>
        <p:txBody>
          <a:bodyPr wrap="square">
            <a:spAutoFit/>
          </a:bodyPr>
          <a:lstStyle/>
          <a:p>
            <a:pPr algn="ctr"/>
            <a:r>
              <a:rPr lang="en-IN" sz="3200" b="1" dirty="0">
                <a:solidFill>
                  <a:srgbClr val="C00000"/>
                </a:solidFill>
                <a:latin typeface="Times New Roman" panose="02020603050405020304" pitchFamily="18" charset="0"/>
                <a:cs typeface="Times New Roman" panose="02020603050405020304" pitchFamily="18" charset="0"/>
              </a:rPr>
              <a:t>PROPOSED SOLOUTION AND METHODOLOGY</a:t>
            </a:r>
            <a:endParaRPr lang="en-US" sz="3200" dirty="0">
              <a:solidFill>
                <a:srgbClr val="C00000"/>
              </a:solidFill>
              <a:latin typeface="Times New Roman" panose="02020603050405020304" pitchFamily="18" charset="0"/>
              <a:cs typeface="Times New Roman" panose="02020603050405020304" pitchFamily="18" charset="0"/>
            </a:endParaRPr>
          </a:p>
          <a:p>
            <a:pPr algn="ctr"/>
            <a:r>
              <a:rPr lang="en-US" sz="3200" b="1" dirty="0">
                <a:solidFill>
                  <a:srgbClr val="C00000"/>
                </a:solidFill>
                <a:latin typeface="Calibri" pitchFamily="34" charset="0"/>
                <a:ea typeface="Calibri" pitchFamily="34" charset="0"/>
                <a:cs typeface="Calibri" pitchFamily="34" charset="0"/>
              </a:rPr>
              <a:t> </a:t>
            </a:r>
            <a:endParaRPr lang="en-US" sz="3600" b="1" dirty="0">
              <a:solidFill>
                <a:srgbClr val="C00000"/>
              </a:solidFill>
              <a:latin typeface="Calibri" pitchFamily="34" charset="0"/>
              <a:ea typeface="Calibri" pitchFamily="34" charset="0"/>
              <a:cs typeface="Calibri" pitchFamily="34" charset="0"/>
            </a:endParaRP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6" name="Text Box 15"/>
          <p:cNvSpPr txBox="1"/>
          <p:nvPr/>
        </p:nvSpPr>
        <p:spPr>
          <a:xfrm>
            <a:off x="640481" y="1499142"/>
            <a:ext cx="11216640" cy="5662295"/>
          </a:xfrm>
          <a:prstGeom prst="rect">
            <a:avLst/>
          </a:prstGeom>
          <a:noFill/>
        </p:spPr>
        <p:txBody>
          <a:bodyPr wrap="square" rtlCol="0">
            <a:noAutofit/>
          </a:bodyPr>
          <a:lstStyle/>
          <a:p>
            <a:r>
              <a:rPr lang="en-IN" sz="3200" b="1" dirty="0">
                <a:latin typeface="Times New Roman" panose="02020603050405020304" pitchFamily="18" charset="0"/>
                <a:cs typeface="Times New Roman" panose="02020603050405020304" pitchFamily="18" charset="0"/>
              </a:rPr>
              <a:t>Scalable Data Lifecycle Management System (SDLMS)</a:t>
            </a:r>
          </a:p>
          <a:p>
            <a:endParaRPr lang="en-IN" sz="32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Efficient storage, retrieval &amp; processing of large-scale social media data.</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AI-driven indexing, caching &amp; intelligent data management.</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Real-time analytics with cost-effective storage solutions</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Scalable, high-performance architecture for millions of 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4" name="Rectangle 13"/>
          <p:cNvSpPr/>
          <p:nvPr/>
        </p:nvSpPr>
        <p:spPr>
          <a:xfrm>
            <a:off x="0" y="401216"/>
            <a:ext cx="12192800" cy="645160"/>
          </a:xfrm>
          <a:prstGeom prst="rect">
            <a:avLst/>
          </a:prstGeom>
        </p:spPr>
        <p:txBody>
          <a:bodyPr wrap="square">
            <a:spAutoFit/>
          </a:bodyPr>
          <a:lstStyle/>
          <a:p>
            <a:pPr algn="ctr"/>
            <a:r>
              <a:rPr lang="en-US" sz="3600" b="1" dirty="0">
                <a:solidFill>
                  <a:srgbClr val="C00000"/>
                </a:solidFill>
                <a:latin typeface="Times New Roman" panose="02020603050405020304" pitchFamily="18" charset="0"/>
                <a:cs typeface="Times New Roman" panose="02020603050405020304" pitchFamily="18" charset="0"/>
              </a:rPr>
              <a:t>SOLUTION DEVELOPMENT</a:t>
            </a:r>
            <a:r>
              <a:rPr lang="en-US" sz="3600" b="1" dirty="0">
                <a:solidFill>
                  <a:srgbClr val="C00000"/>
                </a:solidFill>
                <a:latin typeface="Calibri" pitchFamily="34" charset="0"/>
                <a:ea typeface="Calibri" pitchFamily="34" charset="0"/>
                <a:cs typeface="Calibri" pitchFamily="34" charset="0"/>
              </a:rPr>
              <a:t> </a:t>
            </a:r>
          </a:p>
        </p:txBody>
      </p:sp>
      <p:sp>
        <p:nvSpPr>
          <p:cNvPr id="11" name="Text Box 10"/>
          <p:cNvSpPr txBox="1"/>
          <p:nvPr/>
        </p:nvSpPr>
        <p:spPr>
          <a:xfrm>
            <a:off x="550545" y="1470025"/>
            <a:ext cx="10977245" cy="5387975"/>
          </a:xfrm>
          <a:prstGeom prst="rect">
            <a:avLst/>
          </a:prstGeom>
          <a:noFill/>
        </p:spPr>
        <p:txBody>
          <a:bodyPr wrap="square" rtlCol="0">
            <a:noAutofit/>
          </a:bodyPr>
          <a:lstStyle/>
          <a:p>
            <a:pPr lvl="0" indent="0" algn="just">
              <a:buNone/>
            </a:pPr>
            <a:r>
              <a:rPr lang="en-IN" sz="3200" dirty="0">
                <a:latin typeface="Times New Roman" panose="02020603050405020304" pitchFamily="18" charset="0"/>
                <a:cs typeface="Times New Roman" panose="02020603050405020304" pitchFamily="18" charset="0"/>
              </a:rPr>
              <a:t>Managing data in multi-cloud environments is complex due to diverse sources and platforms. A centralized integration framework using cloud-native services, real-time ingestion, ETL/ELT pipelines, and AI-driven processing ensures scalability, security, and efficiency for seamless data collection, transformation, storage, and analytics.</a:t>
            </a:r>
            <a:endParaRPr lang="en-US" altLang="en-US" sz="3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0" name="Text 0"/>
          <p:cNvSpPr/>
          <p:nvPr/>
        </p:nvSpPr>
        <p:spPr>
          <a:xfrm>
            <a:off x="550545" y="254000"/>
            <a:ext cx="9678670" cy="2264410"/>
          </a:xfrm>
          <a:prstGeom prst="rect">
            <a:avLst/>
          </a:prstGeom>
          <a:noFill/>
        </p:spPr>
        <p:txBody>
          <a:bodyPr wrap="square" lIns="0" tIns="0" rIns="0" bIns="0" rtlCol="0" anchor="t"/>
          <a:lstStyle/>
          <a:p>
            <a:pPr marL="0" indent="0">
              <a:lnSpc>
                <a:spcPts val="5050"/>
              </a:lnSpc>
              <a:buNone/>
            </a:pPr>
            <a:r>
              <a:rPr lang="en-US" altLang="en-US" sz="2800" b="1" dirty="0">
                <a:solidFill>
                  <a:srgbClr val="C00000"/>
                </a:solidFill>
                <a:latin typeface="Times New Roman Bold" panose="02020603050405020304" charset="0"/>
                <a:cs typeface="Times New Roman Bold" panose="02020603050405020304" charset="0"/>
              </a:rPr>
              <a:t>Federated Learning Training Accuracy – A line graph showing model accuracy over epochs.</a:t>
            </a:r>
          </a:p>
        </p:txBody>
      </p:sp>
      <p:pic>
        <p:nvPicPr>
          <p:cNvPr id="8" name="Picture 7">
            <a:extLst>
              <a:ext uri="{FF2B5EF4-FFF2-40B4-BE49-F238E27FC236}">
                <a16:creationId xmlns:a16="http://schemas.microsoft.com/office/drawing/2014/main" id="{DC713975-6111-19FE-1A6E-F6AA38643C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648" y="1537648"/>
            <a:ext cx="10132704" cy="50663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789817" y="1271192"/>
            <a:ext cx="10213107" cy="822789"/>
          </a:xfrm>
          <a:prstGeom prst="rect">
            <a:avLst/>
          </a:prstGeom>
          <a:noFill/>
        </p:spPr>
        <p:txBody>
          <a:bodyPr wrap="square" rtlCol="0">
            <a:spAutoFit/>
          </a:bodyPr>
          <a:lstStyle/>
          <a:p>
            <a:pPr algn="just">
              <a:lnSpc>
                <a:spcPct val="200000"/>
              </a:lnSpc>
            </a:pPr>
            <a:r>
              <a:rPr lang="en-US" sz="2800" dirty="0">
                <a:latin typeface="Times New Roman" panose="02020603050405020304" pitchFamily="18" charset="0"/>
                <a:cs typeface="Times New Roman" panose="02020603050405020304" pitchFamily="18" charset="0"/>
              </a:rPr>
              <a:t>Query Performance Under Increasing Data Load</a:t>
            </a:r>
            <a:endParaRPr lang="en-US" sz="2800" b="1" dirty="0">
              <a:latin typeface="Times New Roman" panose="02020603050405020304" pitchFamily="18" charset="0"/>
              <a:cs typeface="Times New Roman" panose="02020603050405020304" pitchFamily="18" charset="0"/>
            </a:endParaRPr>
          </a:p>
        </p:txBody>
      </p:sp>
      <p:sp>
        <p:nvSpPr>
          <p:cNvPr id="14" name="Rectangle 13"/>
          <p:cNvSpPr/>
          <p:nvPr/>
        </p:nvSpPr>
        <p:spPr>
          <a:xfrm>
            <a:off x="-551305" y="427418"/>
            <a:ext cx="12192800" cy="645160"/>
          </a:xfrm>
          <a:prstGeom prst="rect">
            <a:avLst/>
          </a:prstGeom>
        </p:spPr>
        <p:txBody>
          <a:bodyPr wrap="square">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 SCALABILITY &amp; PERFORMANCE ANALYSIS</a:t>
            </a:r>
            <a:endParaRPr lang="en-US" sz="3600" b="1" dirty="0">
              <a:solidFill>
                <a:srgbClr val="C00000"/>
              </a:solidFill>
              <a:latin typeface="Times New Roman" panose="02020603050405020304" pitchFamily="18" charset="0"/>
              <a:ea typeface="Calibri"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35C7319F-6696-7543-A35A-E49B2C2EEC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115" y="2360223"/>
            <a:ext cx="11107371" cy="293562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345233" y="475861"/>
            <a:ext cx="11019454" cy="646331"/>
          </a:xfrm>
          <a:prstGeom prst="rect">
            <a:avLst/>
          </a:prstGeom>
        </p:spPr>
        <p:txBody>
          <a:bodyPr wrap="square">
            <a:spAutoFit/>
          </a:bodyPr>
          <a:lstStyle/>
          <a:p>
            <a:pPr algn="ctr"/>
            <a:r>
              <a:rPr lang="en-US" sz="3600" dirty="0">
                <a:solidFill>
                  <a:srgbClr val="C00000"/>
                </a:solidFill>
                <a:latin typeface="Times New Roman" panose="02020603050405020304" pitchFamily="18" charset="0"/>
                <a:cs typeface="Times New Roman" panose="02020603050405020304" pitchFamily="18" charset="0"/>
              </a:rPr>
              <a:t>CONCLUSION</a:t>
            </a:r>
            <a:r>
              <a:rPr lang="en-US" sz="3600" b="1" dirty="0">
                <a:solidFill>
                  <a:srgbClr val="C00000"/>
                </a:solidFill>
                <a:latin typeface="Times New Roman" panose="02020603050405020304" pitchFamily="18" charset="0"/>
                <a:ea typeface="Calibri" pitchFamily="34" charset="0"/>
                <a:cs typeface="Times New Roman" panose="02020603050405020304" pitchFamily="18" charset="0"/>
              </a:rPr>
              <a:t> </a:t>
            </a:r>
            <a:endParaRPr lang="en-US" sz="4000" b="1" dirty="0">
              <a:solidFill>
                <a:srgbClr val="C00000"/>
              </a:solidFill>
              <a:latin typeface="Times New Roman" panose="02020603050405020304" pitchFamily="18" charset="0"/>
              <a:ea typeface="Calibri" pitchFamily="34" charset="0"/>
              <a:cs typeface="Times New Roman" panose="02020603050405020304" pitchFamily="18" charset="0"/>
            </a:endParaRP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9" name="Rectangle 8"/>
          <p:cNvSpPr/>
          <p:nvPr/>
        </p:nvSpPr>
        <p:spPr>
          <a:xfrm>
            <a:off x="1184988" y="1446245"/>
            <a:ext cx="9386595" cy="4539191"/>
          </a:xfrm>
          <a:prstGeom prst="rect">
            <a:avLst/>
          </a:prstGeom>
        </p:spPr>
        <p:txBody>
          <a:bodyPr wrap="square">
            <a:spAutoFit/>
          </a:bodyPr>
          <a:lstStyle/>
          <a:p>
            <a:pPr algn="just">
              <a:lnSpc>
                <a:spcPct val="150000"/>
              </a:lnSpc>
            </a:pPr>
            <a:r>
              <a:rPr lang="en-US" altLang="en-US" sz="2800" dirty="0">
                <a:solidFill>
                  <a:schemeClr val="tx1"/>
                </a:solidFill>
                <a:latin typeface="Times New Roman Regular" panose="02020603050405020304" charset="0"/>
                <a:cs typeface="Times New Roman Regular" panose="02020603050405020304" charset="0"/>
                <a:sym typeface="+mn-ea"/>
              </a:rPr>
              <a:t>The Scalable Data Lifecycle Management System (SDLMS) tackles social media scalability with distributed computing, AI, and real-time processing. It improves data retrieval, storage, and decision-making while reducing query latency and costs. Challenges include GPU costs and ethical AI. Future research focus on privacy, misinformation detection, and edge AI for better scalability and security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rot="5400000">
            <a:off x="-3195486" y="3194681"/>
            <a:ext cx="6858000" cy="468638"/>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467833" y="3429000"/>
            <a:ext cx="11724167" cy="830997"/>
          </a:xfrm>
          <a:prstGeom prst="rect">
            <a:avLst/>
          </a:prstGeom>
          <a:solidFill>
            <a:srgbClr val="632523"/>
          </a:solidFill>
          <a:ln>
            <a:solidFill>
              <a:srgbClr val="63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518637" y="3429000"/>
            <a:ext cx="5622557" cy="830997"/>
          </a:xfrm>
          <a:prstGeom prst="rect">
            <a:avLst/>
          </a:prstGeom>
          <a:noFill/>
        </p:spPr>
        <p:txBody>
          <a:bodyPr wrap="square">
            <a:spAutoFit/>
          </a:bodyPr>
          <a:lstStyle/>
          <a:p>
            <a:pPr algn="ctr"/>
            <a:r>
              <a:rPr lang="en-US" sz="4800" dirty="0">
                <a:solidFill>
                  <a:srgbClr val="CA9749"/>
                </a:solidFill>
                <a:latin typeface="Lucida Handwriting" panose="03010101010101010101" pitchFamily="66" charset="0"/>
                <a:cs typeface="Cavolini" panose="020B0502040204020203" pitchFamily="66" charset="0"/>
              </a:rPr>
              <a:t>Thank you all</a:t>
            </a:r>
          </a:p>
        </p:txBody>
      </p:sp>
      <p:sp>
        <p:nvSpPr>
          <p:cNvPr id="13" name="Right Triangle 12"/>
          <p:cNvSpPr/>
          <p:nvPr/>
        </p:nvSpPr>
        <p:spPr>
          <a:xfrm rot="10800000">
            <a:off x="9813850"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5866</TotalTime>
  <Words>484</Words>
  <Application>Microsoft Office PowerPoint</Application>
  <PresentationFormat>Widescreen</PresentationFormat>
  <Paragraphs>58</Paragraphs>
  <Slides>11</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vt:i4>
      </vt:variant>
    </vt:vector>
  </HeadingPairs>
  <TitlesOfParts>
    <vt:vector size="23" baseType="lpstr">
      <vt:lpstr>Aptos</vt:lpstr>
      <vt:lpstr>Aptos Display</vt:lpstr>
      <vt:lpstr>Arial</vt:lpstr>
      <vt:lpstr>Bodoni MT</vt:lpstr>
      <vt:lpstr>Calibri</vt:lpstr>
      <vt:lpstr>Lucida Handwriting</vt:lpstr>
      <vt:lpstr>Times New Roman</vt:lpstr>
      <vt:lpstr>Times New Roman Bold</vt:lpstr>
      <vt:lpstr>Times New Roman Regular</vt:lpstr>
      <vt:lpstr>Wingdings</vt:lpstr>
      <vt:lpstr>Office Theme</vt:lpstr>
      <vt:lpstr>1_Office Theme</vt:lpstr>
      <vt:lpstr>B.TECH IN CSE “Addressing Data Scalability Challenges in Social Media Platforms”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Nagaraja, Bharath Kurki</dc:creator>
  <cp:lastModifiedBy>Abhishek Shivaswamy</cp:lastModifiedBy>
  <cp:revision>156</cp:revision>
  <dcterms:created xsi:type="dcterms:W3CDTF">2025-02-06T04:22:54Z</dcterms:created>
  <dcterms:modified xsi:type="dcterms:W3CDTF">2026-09-04T04:32:44Z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A3D6310EA75265D81E39A46775E3BB78_43</vt:lpwstr>
  </property>
  <property fmtid="{D5CDD505-2E9C-101B-9397-08002B2CF9AE}" pid="3" name="KSOProductBuildVer">
    <vt:lpwstr>1033-6.11.0.8615</vt:lpwstr>
  </property>
</Properties>
</file>